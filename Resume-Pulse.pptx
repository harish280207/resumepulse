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tru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embeddedFontLst>
    <p:embeddedFont>
      <p:font typeface="Inter Medium"/>
      <p:regular r:id="rId201314"/>
    </p:embeddedFont>
    <p:embeddedFont>
      <p:font typeface="Inter SemiBold"/>
      <p:regular r:id="rId201315"/>
    </p:embeddedFont>
    <p:embeddedFont>
      <p:font typeface="Inter Bold"/>
      <p:regular r:id="rId201316"/>
    </p:embeddedFont>
    <p:embeddedFont>
      <p:font typeface="Inter"/>
      <p:regular r:id="rId2013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201314" Target="fonts/201314.fntdata" Type="http://schemas.openxmlformats.org/officeDocument/2006/relationships/font"/><Relationship Id="rId201315" Target="fonts/201315.fntdata" Type="http://schemas.openxmlformats.org/officeDocument/2006/relationships/font"/><Relationship Id="rId201316" Target="fonts/201316.fntdata" Type="http://schemas.openxmlformats.org/officeDocument/2006/relationships/font"/><Relationship Id="rId201317" Target="fonts/201317.fntdata" Type="http://schemas.openxmlformats.org/officeDocument/2006/relationships/font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that every tool starts from the same extracted resume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Resume Checker is the first of the four tools.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Summarize the four tools and the next action the user takes.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4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F3EA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2">
    <p:bg>
      <p:bgPr>
        <a:solidFill>
          <a:srgbClr val="F3EA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>
              <a:gd name="adj" fmla="val 4444"/>
            </a:avLst>
          </a:prstGeom>
          <a:solidFill>
            <a:srgbClr val="FBF6EE"/>
          </a:solidFill>
          <a:ln w="12700">
            <a:solidFill>
              <a:srgbClr val="E8D9C4"/>
            </a:solidFill>
            <a:prstDash val="solid"/>
          </a:ln>
        </p:spPr>
      </p:sp>
      <p:pic>
        <p:nvPicPr>
          <p:cNvPr id="3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3">
    <p:bg>
      <p:bgPr>
        <a:solidFill>
          <a:srgbClr val="F3EA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87270"/>
          </a:xfrm>
          <a:prstGeom prst="rect">
            <a:avLst>
              <a:gd name="adj" fmla="val 4425"/>
            </a:avLst>
          </a:prstGeom>
          <a:solidFill>
            <a:srgbClr val="FBF6EC"/>
          </a:solidFill>
          <a:ln w="12700">
            <a:solidFill>
              <a:srgbClr val="E8D9C4"/>
            </a:solidFill>
            <a:prstDash val="solid"/>
          </a:ln>
        </p:spPr>
      </p:sp>
      <p:pic>
        <p:nvPicPr>
          <p:cNvPr id="3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4">
    <p:bg>
      <p:bgPr>
        <a:solidFill>
          <a:srgbClr val="F3EA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>
              <a:gd name="adj" fmla="val 4444"/>
            </a:avLst>
          </a:prstGeom>
          <a:solidFill>
            <a:srgbClr val="FBF6EC"/>
          </a:solidFill>
          <a:ln w="12700">
            <a:solidFill>
              <a:srgbClr val="E8D9C4"/>
            </a:solidFill>
            <a:prstDash val="solid"/>
          </a:ln>
        </p:spPr>
      </p:sp>
      <p:pic>
        <p:nvPicPr>
          <p:cNvPr id="3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5">
    <p:bg>
      <p:bgPr>
        <a:solidFill>
          <a:srgbClr val="F3EA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E"/>
          </a:solidFill>
          <a:ln w="25399">
            <a:solidFill>
              <a:srgbClr val="E2D3B5"/>
            </a:solidFill>
            <a:prstDash val="solid"/>
          </a:ln>
        </p:spPr>
      </p:sp>
      <p:pic>
        <p:nvPicPr>
          <p:cNvPr id="3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6">
    <p:bg>
      <p:bgPr>
        <a:solidFill>
          <a:srgbClr val="F3EA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879" y="857565"/>
            <a:ext cx="5766449" cy="1447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spc="19" kern="100" dirty="0">
                <a:solidFill>
                  <a:srgbClr val="A8442A"/>
                </a:solidFill>
                <a:latin typeface="Inter Medium" pitchFamily="34" charset="0"/>
                <a:ea typeface="Inter Medium" pitchFamily="34" charset="-122"/>
                <a:cs typeface="Inter Medium" pitchFamily="34" charset="0"/>
              </a:rPr>
              <a:t>HOW IT WORKS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850879" y="1149648"/>
            <a:ext cx="1289117" cy="31651"/>
          </a:xfrm>
          <a:prstGeom prst="roundRect">
            <a:avLst>
              <a:gd name="adj" fmla="val 49998"/>
            </a:avLst>
          </a:prstGeom>
          <a:solidFill>
            <a:srgbClr val="F2B53A"/>
          </a:solidFill>
          <a:ln/>
        </p:spPr>
      </p:sp>
      <p:sp>
        <p:nvSpPr>
          <p:cNvPr id="4" name="Text 2"/>
          <p:cNvSpPr/>
          <p:nvPr/>
        </p:nvSpPr>
        <p:spPr>
          <a:xfrm>
            <a:off x="850879" y="1480220"/>
            <a:ext cx="5156865" cy="8253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000" b="1" spc="-45" kern="100" dirty="0">
                <a:solidFill>
                  <a:srgbClr val="000000"/>
                </a:solidFill>
                <a:latin typeface="Georgia Bold" pitchFamily="34" charset="0"/>
                <a:ea typeface="Georgia Bold" pitchFamily="34" charset="-122"/>
                <a:cs typeface="Georgia Bold" pitchFamily="34" charset="0"/>
              </a:rPr>
              <a:t>One Resume Context powers </a:t>
            </a:r>
            <a:pPr algn="l" indent="0" marL="0">
              <a:lnSpc>
                <a:spcPct val="90000"/>
              </a:lnSpc>
              <a:buNone/>
            </a:pPr>
            <a:r>
              <a:rPr lang="en-US" sz="3000" b="1" spc="-45" kern="100" dirty="0">
                <a:solidFill>
                  <a:srgbClr val="A8442A"/>
                </a:solidFill>
                <a:latin typeface="Georgia Bold" pitchFamily="34" charset="0"/>
                <a:ea typeface="Georgia Bold" pitchFamily="34" charset="-122"/>
                <a:cs typeface="Georgia Bold" pitchFamily="34" charset="0"/>
              </a:rPr>
              <a:t>Four Career tools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50879" y="2385645"/>
            <a:ext cx="5156865" cy="5228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Inter Medium" pitchFamily="34" charset="0"/>
                <a:ea typeface="Inter Medium" pitchFamily="34" charset="-122"/>
                <a:cs typeface="Inter Medium" pitchFamily="34" charset="0"/>
              </a:rPr>
              <a:t>Upload, extract, reuse, and act, all grounded in the supplied resume.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50879" y="2993926"/>
            <a:ext cx="939677" cy="228699"/>
          </a:xfrm>
          <a:prstGeom prst="roundRect">
            <a:avLst>
              <a:gd name="adj" fmla="val 49999"/>
            </a:avLst>
          </a:prstGeom>
          <a:noFill/>
          <a:ln w="635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48904" y="3054619"/>
            <a:ext cx="1353211" cy="1306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050" spc="21" kern="100" dirty="0">
                <a:solidFill>
                  <a:srgbClr val="000000"/>
                </a:solidFill>
                <a:latin typeface="Inter Medium" pitchFamily="34" charset="0"/>
                <a:ea typeface="Inter Medium" pitchFamily="34" charset="-122"/>
                <a:cs typeface="Inter Medium" pitchFamily="34" charset="0"/>
              </a:rPr>
              <a:t>PDF upload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870921" y="2993926"/>
            <a:ext cx="1075901" cy="228699"/>
          </a:xfrm>
          <a:prstGeom prst="roundRect">
            <a:avLst>
              <a:gd name="adj" fmla="val 49999"/>
            </a:avLst>
          </a:prstGeom>
          <a:noFill/>
          <a:ln w="635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968947" y="3054619"/>
            <a:ext cx="1489435" cy="1306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050" spc="21" kern="100" dirty="0">
                <a:solidFill>
                  <a:srgbClr val="000000"/>
                </a:solidFill>
                <a:latin typeface="Inter Medium" pitchFamily="34" charset="0"/>
                <a:ea typeface="Inter Medium" pitchFamily="34" charset="-122"/>
                <a:cs typeface="Inter Medium" pitchFamily="34" charset="0"/>
              </a:rPr>
              <a:t>PyPDFLoader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027188" y="2993926"/>
            <a:ext cx="1502829" cy="228699"/>
          </a:xfrm>
          <a:prstGeom prst="roundRect">
            <a:avLst>
              <a:gd name="adj" fmla="val 49999"/>
            </a:avLst>
          </a:prstGeom>
          <a:noFill/>
          <a:ln w="635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25213" y="3054619"/>
            <a:ext cx="1916362" cy="1306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050" spc="21" kern="100" dirty="0">
                <a:solidFill>
                  <a:srgbClr val="000000"/>
                </a:solidFill>
                <a:latin typeface="Inter Medium" pitchFamily="34" charset="0"/>
                <a:ea typeface="Inter Medium" pitchFamily="34" charset="-122"/>
                <a:cs typeface="Inter Medium" pitchFamily="34" charset="0"/>
              </a:rPr>
              <a:t>Gemini + LangChain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50879" y="3338016"/>
            <a:ext cx="2425937" cy="1588492"/>
          </a:xfrm>
          <a:prstGeom prst="rect">
            <a:avLst/>
          </a:prstGeom>
          <a:solidFill>
            <a:srgbClr val="F3EADB"/>
          </a:solidFill>
          <a:ln/>
        </p:spPr>
      </p:sp>
      <p:sp>
        <p:nvSpPr>
          <p:cNvPr id="13" name="Text 11"/>
          <p:cNvSpPr/>
          <p:nvPr/>
        </p:nvSpPr>
        <p:spPr>
          <a:xfrm>
            <a:off x="1079473" y="3566616"/>
            <a:ext cx="677647" cy="1608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250" dirty="0">
                <a:solidFill>
                  <a:srgbClr val="A8442A"/>
                </a:solidFill>
                <a:latin typeface="Inter SemiBold" pitchFamily="34" charset="0"/>
                <a:ea typeface="Inter SemiBold" pitchFamily="34" charset="-122"/>
                <a:cs typeface="Inter SemiBold" pitchFamily="34" charset="0"/>
              </a:rPr>
              <a:t>1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079473" y="3785503"/>
            <a:ext cx="1968748" cy="2221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Inter Medium" pitchFamily="34" charset="0"/>
                <a:ea typeface="Inter Medium" pitchFamily="34" charset="-122"/>
                <a:cs typeface="Inter Medium" pitchFamily="34" charset="0"/>
              </a:rPr>
              <a:t>Upload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079473" y="4099481"/>
            <a:ext cx="1968748" cy="4034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0"/>
              </a:rPr>
              <a:t>Upload a text-based resume PDF in Streamlit.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3581608" y="3338016"/>
            <a:ext cx="2426036" cy="1588492"/>
          </a:xfrm>
          <a:prstGeom prst="rect">
            <a:avLst/>
          </a:prstGeom>
          <a:solidFill>
            <a:srgbClr val="F3EADB"/>
          </a:solidFill>
          <a:ln/>
        </p:spPr>
      </p:sp>
      <p:sp>
        <p:nvSpPr>
          <p:cNvPr id="17" name="Text 15"/>
          <p:cNvSpPr/>
          <p:nvPr/>
        </p:nvSpPr>
        <p:spPr>
          <a:xfrm>
            <a:off x="3810202" y="3566616"/>
            <a:ext cx="709793" cy="1608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250" dirty="0">
                <a:solidFill>
                  <a:srgbClr val="A8442A"/>
                </a:solidFill>
                <a:latin typeface="Inter SemiBold" pitchFamily="34" charset="0"/>
                <a:ea typeface="Inter SemiBold" pitchFamily="34" charset="-122"/>
                <a:cs typeface="Inter SemiBold" pitchFamily="34" charset="0"/>
              </a:rPr>
              <a:t>2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810202" y="3785503"/>
            <a:ext cx="1968848" cy="2221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Inter Medium" pitchFamily="34" charset="0"/>
                <a:ea typeface="Inter Medium" pitchFamily="34" charset="-122"/>
                <a:cs typeface="Inter Medium" pitchFamily="34" charset="0"/>
              </a:rPr>
              <a:t>Extract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3810202" y="4099481"/>
            <a:ext cx="1968848" cy="6051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0"/>
              </a:rPr>
              <a:t>PyPDFLoader reads the text, and the result is cached.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50879" y="5231309"/>
            <a:ext cx="2425937" cy="1588492"/>
          </a:xfrm>
          <a:prstGeom prst="rect">
            <a:avLst/>
          </a:prstGeom>
          <a:solidFill>
            <a:srgbClr val="F3EADB"/>
          </a:solidFill>
          <a:ln/>
        </p:spPr>
      </p:sp>
      <p:sp>
        <p:nvSpPr>
          <p:cNvPr id="21" name="Text 19"/>
          <p:cNvSpPr/>
          <p:nvPr/>
        </p:nvSpPr>
        <p:spPr>
          <a:xfrm>
            <a:off x="1079473" y="5459909"/>
            <a:ext cx="711976" cy="1608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250" dirty="0">
                <a:solidFill>
                  <a:srgbClr val="A8442A"/>
                </a:solidFill>
                <a:latin typeface="Inter SemiBold" pitchFamily="34" charset="0"/>
                <a:ea typeface="Inter SemiBold" pitchFamily="34" charset="-122"/>
                <a:cs typeface="Inter SemiBold" pitchFamily="34" charset="0"/>
              </a:rPr>
              <a:t>3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079473" y="5678795"/>
            <a:ext cx="1968748" cy="2221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Inter Medium" pitchFamily="34" charset="0"/>
                <a:ea typeface="Inter Medium" pitchFamily="34" charset="-122"/>
                <a:cs typeface="Inter Medium" pitchFamily="34" charset="0"/>
              </a:rPr>
              <a:t>Reuse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079473" y="5992773"/>
            <a:ext cx="1968748" cy="6051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0"/>
              </a:rPr>
              <a:t>Non-empty page text becomes one shared resume context.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3581608" y="5231309"/>
            <a:ext cx="2426036" cy="1588492"/>
          </a:xfrm>
          <a:prstGeom prst="rect">
            <a:avLst/>
          </a:prstGeom>
          <a:solidFill>
            <a:srgbClr val="F3EADB"/>
          </a:solidFill>
          <a:ln/>
        </p:spPr>
      </p:sp>
      <p:sp>
        <p:nvSpPr>
          <p:cNvPr id="25" name="Text 23"/>
          <p:cNvSpPr/>
          <p:nvPr/>
        </p:nvSpPr>
        <p:spPr>
          <a:xfrm>
            <a:off x="3810202" y="5459909"/>
            <a:ext cx="716738" cy="1608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250" dirty="0">
                <a:solidFill>
                  <a:srgbClr val="A8442A"/>
                </a:solidFill>
                <a:latin typeface="Inter SemiBold" pitchFamily="34" charset="0"/>
                <a:ea typeface="Inter SemiBold" pitchFamily="34" charset="-122"/>
                <a:cs typeface="Inter SemiBold" pitchFamily="34" charset="0"/>
              </a:rPr>
              <a:t>4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3810202" y="5678795"/>
            <a:ext cx="1968848" cy="2221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Inter Medium" pitchFamily="34" charset="0"/>
                <a:ea typeface="Inter Medium" pitchFamily="34" charset="-122"/>
                <a:cs typeface="Inter Medium" pitchFamily="34" charset="0"/>
              </a:rPr>
              <a:t>Act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3810202" y="5992773"/>
            <a:ext cx="1968848" cy="4034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0"/>
              </a:rPr>
              <a:t>Gemini via LangChain powers each tool.</a:t>
            </a:r>
            <a:endParaRPr lang="en-US" sz="1250" dirty="0"/>
          </a:p>
        </p:txBody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4002" y="850900"/>
            <a:ext cx="3656814" cy="51562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879" y="853186"/>
            <a:ext cx="5766449" cy="1828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spc="24" kern="100" dirty="0">
                <a:solidFill>
                  <a:srgbClr val="A84226"/>
                </a:solidFill>
                <a:latin typeface="Inter Medium" pitchFamily="34" charset="0"/>
                <a:ea typeface="Inter Medium" pitchFamily="34" charset="-122"/>
                <a:cs typeface="Inter Medium" pitchFamily="34" charset="0"/>
              </a:rPr>
              <a:t>TOOL 1 · RESUME CHECKER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850879" y="1268710"/>
            <a:ext cx="1289117" cy="38100"/>
          </a:xfrm>
          <a:prstGeom prst="roundRect">
            <a:avLst>
              <a:gd name="adj" fmla="val 49999"/>
            </a:avLst>
          </a:prstGeom>
          <a:solidFill>
            <a:srgbClr val="F2B53A"/>
          </a:solidFill>
          <a:ln/>
        </p:spPr>
      </p:sp>
      <p:sp>
        <p:nvSpPr>
          <p:cNvPr id="4" name="Text 2"/>
          <p:cNvSpPr/>
          <p:nvPr/>
        </p:nvSpPr>
        <p:spPr>
          <a:xfrm>
            <a:off x="850879" y="1757889"/>
            <a:ext cx="5156865" cy="15635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800" b="1" spc="-57" kern="100" dirty="0">
                <a:solidFill>
                  <a:srgbClr val="000000"/>
                </a:solidFill>
                <a:latin typeface="Georgia Bold" pitchFamily="34" charset="0"/>
                <a:ea typeface="Georgia Bold" pitchFamily="34" charset="-122"/>
                <a:cs typeface="Georgia Bold" pitchFamily="34" charset="0"/>
              </a:rPr>
              <a:t>Resume Checker reviews the </a:t>
            </a:r>
            <a:pPr algn="l" indent="0" marL="0">
              <a:lnSpc>
                <a:spcPct val="90000"/>
              </a:lnSpc>
              <a:buNone/>
            </a:pPr>
            <a:r>
              <a:rPr lang="en-US" sz="3800" b="1" spc="-57" kern="100" dirty="0">
                <a:solidFill>
                  <a:srgbClr val="A84226"/>
                </a:solidFill>
                <a:latin typeface="Georgia Bold" pitchFamily="34" charset="0"/>
                <a:ea typeface="Georgia Bold" pitchFamily="34" charset="-122"/>
                <a:cs typeface="Georgia Bold" pitchFamily="34" charset="0"/>
              </a:rPr>
              <a:t>uploaded resume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850879" y="3467298"/>
            <a:ext cx="5156865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Inter Medium" pitchFamily="34" charset="0"/>
                <a:ea typeface="Inter Medium" pitchFamily="34" charset="-122"/>
                <a:cs typeface="Inter Medium" pitchFamily="34" charset="0"/>
              </a:rPr>
              <a:t>The extracted resume text is sent to Gemini for review feedback.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850879" y="4299148"/>
            <a:ext cx="2425937" cy="1737221"/>
          </a:xfrm>
          <a:prstGeom prst="rect">
            <a:avLst/>
          </a:prstGeom>
          <a:solidFill>
            <a:srgbClr val="F3EADB"/>
          </a:solidFill>
          <a:ln/>
        </p:spPr>
      </p:sp>
      <p:sp>
        <p:nvSpPr>
          <p:cNvPr id="7" name="Text 5"/>
          <p:cNvSpPr/>
          <p:nvPr/>
        </p:nvSpPr>
        <p:spPr>
          <a:xfrm>
            <a:off x="1079473" y="4538543"/>
            <a:ext cx="1968748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Inter Medium" pitchFamily="34" charset="0"/>
                <a:ea typeface="Inter Medium" pitchFamily="34" charset="-122"/>
                <a:cs typeface="Inter Medium" pitchFamily="34" charset="0"/>
              </a:rPr>
              <a:t>Input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79473" y="4959469"/>
            <a:ext cx="1968748" cy="853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0"/>
              </a:rPr>
              <a:t>A text-based resume PDF from the sidebar upload.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581608" y="4299148"/>
            <a:ext cx="2426036" cy="1737221"/>
          </a:xfrm>
          <a:prstGeom prst="rect">
            <a:avLst/>
          </a:prstGeom>
          <a:solidFill>
            <a:srgbClr val="F3EADB"/>
          </a:solidFill>
          <a:ln/>
        </p:spPr>
      </p:sp>
      <p:sp>
        <p:nvSpPr>
          <p:cNvPr id="10" name="Text 8"/>
          <p:cNvSpPr/>
          <p:nvPr/>
        </p:nvSpPr>
        <p:spPr>
          <a:xfrm>
            <a:off x="3810202" y="4538543"/>
            <a:ext cx="1968848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Inter Medium" pitchFamily="34" charset="0"/>
                <a:ea typeface="Inter Medium" pitchFamily="34" charset="-122"/>
                <a:cs typeface="Inter Medium" pitchFamily="34" charset="0"/>
              </a:rPr>
              <a:t>Output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810202" y="4959469"/>
            <a:ext cx="1968848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0"/>
              </a:rPr>
              <a:t>Gemini feedback on the resume content.</a:t>
            </a:r>
            <a:endParaRPr lang="en-US" sz="16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4002" y="850900"/>
            <a:ext cx="3656814" cy="432187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7684002" y="5356920"/>
            <a:ext cx="1911897" cy="288925"/>
          </a:xfrm>
          <a:prstGeom prst="roundRect">
            <a:avLst>
              <a:gd name="adj" fmla="val 49999"/>
            </a:avLst>
          </a:prstGeom>
          <a:noFill/>
          <a:ln w="6350">
            <a:solidFill>
              <a:srgbClr val="00000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07824" y="5435932"/>
            <a:ext cx="2273838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300" spc="26" kern="100" dirty="0">
                <a:solidFill>
                  <a:srgbClr val="000000"/>
                </a:solidFill>
                <a:latin typeface="Inter Medium" pitchFamily="34" charset="0"/>
                <a:ea typeface="Inter Medium" pitchFamily="34" charset="-122"/>
                <a:cs typeface="Inter Medium" pitchFamily="34" charset="0"/>
              </a:rPr>
              <a:t>Input: uploaded PDF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684002" y="5747445"/>
            <a:ext cx="2290110" cy="288925"/>
          </a:xfrm>
          <a:prstGeom prst="roundRect">
            <a:avLst>
              <a:gd name="adj" fmla="val 49999"/>
            </a:avLst>
          </a:prstGeom>
          <a:noFill/>
          <a:ln w="6350">
            <a:solidFill>
              <a:srgbClr val="00000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07824" y="5826457"/>
            <a:ext cx="265205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300" spc="26" kern="100" dirty="0">
                <a:solidFill>
                  <a:srgbClr val="000000"/>
                </a:solidFill>
                <a:latin typeface="Inter Medium" pitchFamily="34" charset="0"/>
                <a:ea typeface="Inter Medium" pitchFamily="34" charset="-122"/>
                <a:cs typeface="Inter Medium" pitchFamily="34" charset="0"/>
              </a:rPr>
              <a:t>Output: Gemini feedback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0272" y="1079500"/>
            <a:ext cx="5536268" cy="1817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spc="24" kern="100" dirty="0">
                <a:solidFill>
                  <a:srgbClr val="A7432B"/>
                </a:solidFill>
                <a:latin typeface="Inter Medium" pitchFamily="34" charset="0"/>
                <a:ea typeface="Inter Medium" pitchFamily="34" charset="-122"/>
                <a:cs typeface="Inter Medium" pitchFamily="34" charset="0"/>
              </a:rPr>
              <a:t>TOOL 2 · COVER LETTER GENERATOR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1130272" y="1493738"/>
            <a:ext cx="1231572" cy="38100"/>
          </a:xfrm>
          <a:prstGeom prst="roundRect">
            <a:avLst>
              <a:gd name="adj" fmla="val 49999"/>
            </a:avLst>
          </a:prstGeom>
          <a:solidFill>
            <a:srgbClr val="F2B53A"/>
          </a:solidFill>
          <a:ln/>
        </p:spPr>
      </p:sp>
      <p:sp>
        <p:nvSpPr>
          <p:cNvPr id="4" name="Text 2"/>
          <p:cNvSpPr/>
          <p:nvPr/>
        </p:nvSpPr>
        <p:spPr>
          <a:xfrm>
            <a:off x="1130272" y="1979336"/>
            <a:ext cx="4926683" cy="20724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800" b="1" spc="-57" kern="100" dirty="0">
                <a:solidFill>
                  <a:srgbClr val="000000"/>
                </a:solidFill>
                <a:latin typeface="Georgia Bold" pitchFamily="34" charset="0"/>
                <a:ea typeface="Georgia Bold" pitchFamily="34" charset="-122"/>
                <a:cs typeface="Georgia Bold" pitchFamily="34" charset="0"/>
              </a:rPr>
              <a:t>Cover Letter Generator drafts from </a:t>
            </a:r>
            <a:pPr algn="l" indent="0" marL="0">
              <a:lnSpc>
                <a:spcPct val="90000"/>
              </a:lnSpc>
              <a:buNone/>
            </a:pPr>
            <a:r>
              <a:rPr lang="en-US" sz="3800" b="1" spc="-57" kern="100" dirty="0">
                <a:solidFill>
                  <a:srgbClr val="A7432B"/>
                </a:solidFill>
                <a:latin typeface="Georgia Bold" pitchFamily="34" charset="0"/>
                <a:ea typeface="Georgia Bold" pitchFamily="34" charset="-122"/>
                <a:cs typeface="Georgia Bold" pitchFamily="34" charset="0"/>
              </a:rPr>
              <a:t>resume context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1130272" y="4195152"/>
            <a:ext cx="4926683" cy="6564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Inter Medium" pitchFamily="34" charset="0"/>
                <a:ea typeface="Inter Medium" pitchFamily="34" charset="-122"/>
                <a:cs typeface="Inter Medium" pitchFamily="34" charset="0"/>
              </a:rPr>
              <a:t>Turns the shared resume context into a tailored cover letter draft.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130272" y="5020370"/>
            <a:ext cx="2310945" cy="1850628"/>
          </a:xfrm>
          <a:prstGeom prst="rect">
            <a:avLst/>
          </a:prstGeom>
          <a:solidFill>
            <a:srgbClr val="F3EADB"/>
          </a:solidFill>
          <a:ln/>
        </p:spPr>
      </p:sp>
      <p:sp>
        <p:nvSpPr>
          <p:cNvPr id="7" name="Text 5"/>
          <p:cNvSpPr/>
          <p:nvPr/>
        </p:nvSpPr>
        <p:spPr>
          <a:xfrm>
            <a:off x="1358866" y="5260173"/>
            <a:ext cx="1853757" cy="2789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Inter Medium" pitchFamily="34" charset="0"/>
                <a:ea typeface="Inter Medium" pitchFamily="34" charset="-122"/>
                <a:cs typeface="Inter Medium" pitchFamily="34" charset="0"/>
              </a:rPr>
              <a:t>Input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358866" y="5677838"/>
            <a:ext cx="1853757" cy="5639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0"/>
              </a:rPr>
              <a:t>The uploaded resume context.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358866" y="6355259"/>
            <a:ext cx="1554620" cy="287139"/>
          </a:xfrm>
          <a:prstGeom prst="roundRect">
            <a:avLst>
              <a:gd name="adj" fmla="val 49999"/>
            </a:avLst>
          </a:prstGeom>
          <a:noFill/>
          <a:ln w="635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81894" y="6434135"/>
            <a:ext cx="1918148" cy="1641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300" spc="26" kern="100" dirty="0">
                <a:solidFill>
                  <a:srgbClr val="000000"/>
                </a:solidFill>
                <a:latin typeface="Inter Medium" pitchFamily="34" charset="0"/>
                <a:ea typeface="Inter Medium" pitchFamily="34" charset="-122"/>
                <a:cs typeface="Inter Medium" pitchFamily="34" charset="0"/>
              </a:rPr>
              <a:t>Resume context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746009" y="5020370"/>
            <a:ext cx="2310945" cy="1850628"/>
          </a:xfrm>
          <a:prstGeom prst="rect">
            <a:avLst/>
          </a:prstGeom>
          <a:solidFill>
            <a:srgbClr val="F3EADB"/>
          </a:solidFill>
          <a:ln/>
        </p:spPr>
      </p:sp>
      <p:sp>
        <p:nvSpPr>
          <p:cNvPr id="12" name="Text 10"/>
          <p:cNvSpPr/>
          <p:nvPr/>
        </p:nvSpPr>
        <p:spPr>
          <a:xfrm>
            <a:off x="3974604" y="5260173"/>
            <a:ext cx="1853757" cy="2789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Inter Medium" pitchFamily="34" charset="0"/>
                <a:ea typeface="Inter Medium" pitchFamily="34" charset="-122"/>
                <a:cs typeface="Inter Medium" pitchFamily="34" charset="0"/>
              </a:rPr>
              <a:t>Output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974604" y="5677838"/>
            <a:ext cx="1853757" cy="5639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0"/>
              </a:rPr>
              <a:t>A generated cover letter draft.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974604" y="6355259"/>
            <a:ext cx="1635977" cy="287139"/>
          </a:xfrm>
          <a:prstGeom prst="roundRect">
            <a:avLst>
              <a:gd name="adj" fmla="val 49999"/>
            </a:avLst>
          </a:prstGeom>
          <a:noFill/>
          <a:ln w="635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097632" y="6434135"/>
            <a:ext cx="1959323" cy="1641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300" spc="26" kern="100" dirty="0">
                <a:solidFill>
                  <a:srgbClr val="000000"/>
                </a:solidFill>
                <a:latin typeface="Inter Medium" pitchFamily="34" charset="0"/>
                <a:ea typeface="Inter Medium" pitchFamily="34" charset="-122"/>
                <a:cs typeface="Inter Medium" pitchFamily="34" charset="0"/>
              </a:rPr>
              <a:t>Cover letter draft</a:t>
            </a:r>
            <a:endParaRPr lang="en-US" sz="13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0817" y="1079500"/>
            <a:ext cx="3480606" cy="4699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879" y="858755"/>
            <a:ext cx="5766449" cy="1399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18" kern="100" dirty="0">
                <a:solidFill>
                  <a:srgbClr val="A64028"/>
                </a:solidFill>
                <a:latin typeface="Inter Medium" pitchFamily="34" charset="0"/>
                <a:ea typeface="Inter Medium" pitchFamily="34" charset="-122"/>
                <a:cs typeface="Inter Medium" pitchFamily="34" charset="0"/>
              </a:rPr>
              <a:t>TOOL 3 · RESUME SCORER (JD MATCHER)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850879" y="1136154"/>
            <a:ext cx="1289117" cy="31651"/>
          </a:xfrm>
          <a:prstGeom prst="roundRect">
            <a:avLst>
              <a:gd name="adj" fmla="val 49998"/>
            </a:avLst>
          </a:prstGeom>
          <a:solidFill>
            <a:srgbClr val="A64028"/>
          </a:solidFill>
          <a:ln/>
        </p:spPr>
      </p:sp>
      <p:sp>
        <p:nvSpPr>
          <p:cNvPr id="4" name="Text 2"/>
          <p:cNvSpPr/>
          <p:nvPr/>
        </p:nvSpPr>
        <p:spPr>
          <a:xfrm>
            <a:off x="850879" y="1447031"/>
            <a:ext cx="5156865" cy="11968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900" b="1" spc="-44" kern="100" dirty="0">
                <a:solidFill>
                  <a:srgbClr val="000000"/>
                </a:solidFill>
                <a:latin typeface="Georgia Bold" pitchFamily="34" charset="0"/>
                <a:ea typeface="Georgia Bold" pitchFamily="34" charset="-122"/>
                <a:cs typeface="Georgia Bold" pitchFamily="34" charset="0"/>
              </a:rPr>
              <a:t>Resume Scorer compares resume against the </a:t>
            </a:r>
            <a:pPr algn="l" indent="0" marL="0">
              <a:lnSpc>
                <a:spcPct val="90000"/>
              </a:lnSpc>
              <a:buNone/>
            </a:pPr>
            <a:r>
              <a:rPr lang="en-US" sz="2900" b="1" spc="-44" kern="100" dirty="0">
                <a:solidFill>
                  <a:srgbClr val="A64028"/>
                </a:solidFill>
                <a:latin typeface="Georgia Bold" pitchFamily="34" charset="0"/>
                <a:ea typeface="Georgia Bold" pitchFamily="34" charset="-122"/>
                <a:cs typeface="Georgia Bold" pitchFamily="34" charset="0"/>
              </a:rPr>
              <a:t>job description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850879" y="2722953"/>
            <a:ext cx="5156865" cy="5056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Inter Medium" pitchFamily="34" charset="0"/>
                <a:ea typeface="Inter Medium" pitchFamily="34" charset="-122"/>
                <a:cs typeface="Inter Medium" pitchFamily="34" charset="0"/>
              </a:rPr>
              <a:t>Match analysis, missing keywords, skill gaps, and a resume upgrade.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850879" y="3328293"/>
            <a:ext cx="1866655" cy="221059"/>
          </a:xfrm>
          <a:prstGeom prst="roundRect">
            <a:avLst>
              <a:gd name="adj" fmla="val 49999"/>
            </a:avLst>
          </a:prstGeom>
          <a:noFill/>
          <a:ln w="635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45630" y="3388480"/>
            <a:ext cx="2286737" cy="1264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000" spc="20" kern="100" dirty="0">
                <a:solidFill>
                  <a:srgbClr val="000000"/>
                </a:solidFill>
                <a:latin typeface="Inter Medium" pitchFamily="34" charset="0"/>
                <a:ea typeface="Inter Medium" pitchFamily="34" charset="-122"/>
                <a:cs typeface="Inter Medium" pitchFamily="34" charset="0"/>
              </a:rPr>
              <a:t>Job description </a:t>
            </a:r>
            <a:pPr algn="l" indent="0" marL="0">
              <a:lnSpc>
                <a:spcPct val="83000"/>
              </a:lnSpc>
              <a:buNone/>
            </a:pPr>
            <a:r>
              <a:rPr lang="en-US" sz="1000" spc="20" kern="100" dirty="0">
                <a:solidFill>
                  <a:srgbClr val="000000"/>
                </a:solidFill>
                <a:latin typeface="Noto Color Emoji" pitchFamily="34" charset="0"/>
                <a:ea typeface="Noto Color Emoji" pitchFamily="34" charset="-122"/>
                <a:cs typeface="Noto Color Emoji" pitchFamily="34" charset="0"/>
              </a:rPr>
              <a:t>↔</a:t>
            </a:r>
            <a:pPr algn="l" indent="0" marL="0">
              <a:lnSpc>
                <a:spcPct val="83000"/>
              </a:lnSpc>
              <a:buNone/>
            </a:pPr>
            <a:r>
              <a:rPr lang="en-US" sz="1000" spc="20" kern="100" dirty="0">
                <a:solidFill>
                  <a:srgbClr val="000000"/>
                </a:solidFill>
                <a:latin typeface="Inter Medium" pitchFamily="34" charset="0"/>
                <a:ea typeface="Inter Medium" pitchFamily="34" charset="-122"/>
                <a:cs typeface="Inter Medium" pitchFamily="34" charset="0"/>
              </a:rPr>
              <a:t> resume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850879" y="3657302"/>
            <a:ext cx="5156766" cy="949920"/>
          </a:xfrm>
          <a:prstGeom prst="roundRect">
            <a:avLst>
              <a:gd name="adj" fmla="val 22460"/>
            </a:avLst>
          </a:prstGeom>
          <a:solidFill>
            <a:srgbClr val="F3EADB"/>
          </a:solidFill>
          <a:ln/>
        </p:spPr>
      </p:sp>
      <p:sp>
        <p:nvSpPr>
          <p:cNvPr id="9" name="Text 7"/>
          <p:cNvSpPr/>
          <p:nvPr/>
        </p:nvSpPr>
        <p:spPr>
          <a:xfrm>
            <a:off x="1079473" y="3894087"/>
            <a:ext cx="4699577" cy="2148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Inter Medium" pitchFamily="34" charset="0"/>
                <a:ea typeface="Inter Medium" pitchFamily="34" charset="-122"/>
                <a:cs typeface="Inter Medium" pitchFamily="34" charset="0"/>
              </a:rPr>
              <a:t>Match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79473" y="4195410"/>
            <a:ext cx="4928171" cy="1922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0"/>
              </a:rPr>
              <a:t>Scores fit against the job description.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50879" y="4759523"/>
            <a:ext cx="5156766" cy="950119"/>
          </a:xfrm>
          <a:prstGeom prst="roundRect">
            <a:avLst>
              <a:gd name="adj" fmla="val 22456"/>
            </a:avLst>
          </a:prstGeom>
          <a:solidFill>
            <a:srgbClr val="F3EADB"/>
          </a:solidFill>
          <a:ln/>
        </p:spPr>
      </p:sp>
      <p:sp>
        <p:nvSpPr>
          <p:cNvPr id="12" name="Text 10"/>
          <p:cNvSpPr/>
          <p:nvPr/>
        </p:nvSpPr>
        <p:spPr>
          <a:xfrm>
            <a:off x="1079473" y="4996309"/>
            <a:ext cx="4699577" cy="2148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Inter Medium" pitchFamily="34" charset="0"/>
                <a:ea typeface="Inter Medium" pitchFamily="34" charset="-122"/>
                <a:cs typeface="Inter Medium" pitchFamily="34" charset="0"/>
              </a:rPr>
              <a:t>Gaps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79473" y="5297631"/>
            <a:ext cx="4928171" cy="1922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0"/>
              </a:rPr>
              <a:t>Lists missing keywords and skill gaps.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50879" y="5861943"/>
            <a:ext cx="5156766" cy="949920"/>
          </a:xfrm>
          <a:prstGeom prst="roundRect">
            <a:avLst>
              <a:gd name="adj" fmla="val 22460"/>
            </a:avLst>
          </a:prstGeom>
          <a:solidFill>
            <a:srgbClr val="F3EADB"/>
          </a:solidFill>
          <a:ln/>
        </p:spPr>
      </p:sp>
      <p:sp>
        <p:nvSpPr>
          <p:cNvPr id="15" name="Text 13"/>
          <p:cNvSpPr/>
          <p:nvPr/>
        </p:nvSpPr>
        <p:spPr>
          <a:xfrm>
            <a:off x="1079473" y="6098728"/>
            <a:ext cx="4699577" cy="2148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Inter Medium" pitchFamily="34" charset="0"/>
                <a:ea typeface="Inter Medium" pitchFamily="34" charset="-122"/>
                <a:cs typeface="Inter Medium" pitchFamily="34" charset="0"/>
              </a:rPr>
              <a:t>Upgrade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79473" y="6400050"/>
            <a:ext cx="4928171" cy="1922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0"/>
              </a:rPr>
              <a:t>Suggests resume improvements.</a:t>
            </a:r>
            <a:endParaRPr lang="en-US" sz="125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4002" y="850900"/>
            <a:ext cx="3656814" cy="5156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3578" y="865886"/>
            <a:ext cx="5752063" cy="1828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spc="24" kern="100" dirty="0">
                <a:solidFill>
                  <a:srgbClr val="A13D26"/>
                </a:solidFill>
                <a:latin typeface="Inter Medium" pitchFamily="34" charset="0"/>
                <a:ea typeface="Inter Medium" pitchFamily="34" charset="-122"/>
                <a:cs typeface="Inter Medium" pitchFamily="34" charset="0"/>
              </a:rPr>
              <a:t>TOOL 4 · AI CAREER COACH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863578" y="1281410"/>
            <a:ext cx="1285545" cy="38100"/>
          </a:xfrm>
          <a:prstGeom prst="roundRect">
            <a:avLst>
              <a:gd name="adj" fmla="val 49999"/>
            </a:avLst>
          </a:prstGeom>
          <a:solidFill>
            <a:srgbClr val="F2B53A"/>
          </a:solidFill>
          <a:ln/>
        </p:spPr>
      </p:sp>
      <p:sp>
        <p:nvSpPr>
          <p:cNvPr id="4" name="Text 2"/>
          <p:cNvSpPr/>
          <p:nvPr/>
        </p:nvSpPr>
        <p:spPr>
          <a:xfrm>
            <a:off x="863578" y="1770589"/>
            <a:ext cx="5142478" cy="15635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800" b="1" spc="-57" kern="100" dirty="0">
                <a:solidFill>
                  <a:srgbClr val="000000"/>
                </a:solidFill>
                <a:latin typeface="Georgia Bold" pitchFamily="34" charset="0"/>
                <a:ea typeface="Georgia Bold" pitchFamily="34" charset="-122"/>
                <a:cs typeface="Georgia Bold" pitchFamily="34" charset="0"/>
              </a:rPr>
              <a:t>AI Career Coach answers from </a:t>
            </a:r>
            <a:pPr algn="l" indent="0" marL="0">
              <a:lnSpc>
                <a:spcPct val="90000"/>
              </a:lnSpc>
              <a:buNone/>
            </a:pPr>
            <a:r>
              <a:rPr lang="en-US" sz="3800" b="1" spc="-57" kern="100" dirty="0">
                <a:solidFill>
                  <a:srgbClr val="A13D26"/>
                </a:solidFill>
                <a:latin typeface="Georgia Bold" pitchFamily="34" charset="0"/>
                <a:ea typeface="Georgia Bold" pitchFamily="34" charset="-122"/>
                <a:cs typeface="Georgia Bold" pitchFamily="34" charset="0"/>
              </a:rPr>
              <a:t>your resume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863578" y="3479998"/>
            <a:ext cx="5142478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Inter Medium" pitchFamily="34" charset="0"/>
                <a:ea typeface="Inter Medium" pitchFamily="34" charset="-122"/>
                <a:cs typeface="Inter Medium" pitchFamily="34" charset="0"/>
              </a:rPr>
              <a:t>Coaching replies grounded in the uploaded resume context.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863578" y="4291211"/>
            <a:ext cx="1806530" cy="254000"/>
          </a:xfrm>
          <a:prstGeom prst="roundRect">
            <a:avLst>
              <a:gd name="adj" fmla="val 49999"/>
            </a:avLst>
          </a:prstGeom>
          <a:solidFill>
            <a:srgbClr val="FCEDCF"/>
          </a:solidFill>
          <a:ln/>
        </p:spPr>
      </p:sp>
      <p:sp>
        <p:nvSpPr>
          <p:cNvPr id="7" name="Text 5"/>
          <p:cNvSpPr/>
          <p:nvPr/>
        </p:nvSpPr>
        <p:spPr>
          <a:xfrm>
            <a:off x="990575" y="4352761"/>
            <a:ext cx="216212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300" spc="26" kern="100" dirty="0">
                <a:solidFill>
                  <a:srgbClr val="3A342E"/>
                </a:solidFill>
                <a:latin typeface="Inter Medium" pitchFamily="34" charset="0"/>
                <a:ea typeface="Inter Medium" pitchFamily="34" charset="-122"/>
                <a:cs typeface="Inter Medium" pitchFamily="34" charset="0"/>
              </a:rPr>
              <a:t>Resume-grounded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71706" y="4273748"/>
            <a:ext cx="1393691" cy="288925"/>
          </a:xfrm>
          <a:prstGeom prst="roundRect">
            <a:avLst>
              <a:gd name="adj" fmla="val 49999"/>
            </a:avLst>
          </a:prstGeom>
          <a:noFill/>
          <a:ln w="635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95528" y="4352761"/>
            <a:ext cx="1755632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300" spc="26" kern="100" dirty="0">
                <a:solidFill>
                  <a:srgbClr val="000000"/>
                </a:solidFill>
                <a:latin typeface="Inter Medium" pitchFamily="34" charset="0"/>
                <a:ea typeface="Inter Medium" pitchFamily="34" charset="-122"/>
                <a:cs typeface="Inter Medium" pitchFamily="34" charset="0"/>
              </a:rPr>
              <a:t>Career advice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63578" y="4746823"/>
            <a:ext cx="2418793" cy="1452761"/>
          </a:xfrm>
          <a:prstGeom prst="rect">
            <a:avLst/>
          </a:prstGeom>
          <a:solidFill>
            <a:srgbClr val="F3EADB"/>
          </a:solidFill>
          <a:ln/>
        </p:spPr>
      </p:sp>
      <p:sp>
        <p:nvSpPr>
          <p:cNvPr id="11" name="Text 9"/>
          <p:cNvSpPr/>
          <p:nvPr/>
        </p:nvSpPr>
        <p:spPr>
          <a:xfrm>
            <a:off x="1092173" y="4986218"/>
            <a:ext cx="196160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Inter Medium" pitchFamily="34" charset="0"/>
                <a:ea typeface="Inter Medium" pitchFamily="34" charset="-122"/>
                <a:cs typeface="Inter Medium" pitchFamily="34" charset="0"/>
              </a:rPr>
              <a:t>Ask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92173" y="5407144"/>
            <a:ext cx="1961605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0"/>
              </a:rPr>
              <a:t>A career question in the chat.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587164" y="4746823"/>
            <a:ext cx="2418893" cy="1452761"/>
          </a:xfrm>
          <a:prstGeom prst="rect">
            <a:avLst/>
          </a:prstGeom>
          <a:solidFill>
            <a:srgbClr val="F3EADB"/>
          </a:solidFill>
          <a:ln/>
        </p:spPr>
      </p:sp>
      <p:sp>
        <p:nvSpPr>
          <p:cNvPr id="14" name="Text 12"/>
          <p:cNvSpPr/>
          <p:nvPr/>
        </p:nvSpPr>
        <p:spPr>
          <a:xfrm>
            <a:off x="3815758" y="4986218"/>
            <a:ext cx="1961704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Inter Medium" pitchFamily="34" charset="0"/>
                <a:ea typeface="Inter Medium" pitchFamily="34" charset="-122"/>
                <a:cs typeface="Inter Medium" pitchFamily="34" charset="0"/>
              </a:rPr>
              <a:t>Answer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815758" y="5407144"/>
            <a:ext cx="1961704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0"/>
              </a:rPr>
              <a:t>Advice tied to the uploaded resume.</a:t>
            </a:r>
            <a:endParaRPr lang="en-US" sz="16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2316" y="863600"/>
            <a:ext cx="3645702" cy="5130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18095"/>
            <a:ext cx="11582110" cy="1565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spc="21" kern="100" dirty="0">
                <a:solidFill>
                  <a:srgbClr val="A84327"/>
                </a:solidFill>
                <a:latin typeface="Inter Medium" pitchFamily="34" charset="0"/>
                <a:ea typeface="Inter Medium" pitchFamily="34" charset="-122"/>
                <a:cs typeface="Inter Medium" pitchFamily="34" charset="0"/>
              </a:rPr>
              <a:t>CONCLUSION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609585" y="942876"/>
            <a:ext cx="2743131" cy="31651"/>
          </a:xfrm>
          <a:prstGeom prst="roundRect">
            <a:avLst>
              <a:gd name="adj" fmla="val 49998"/>
            </a:avLst>
          </a:prstGeom>
          <a:solidFill>
            <a:srgbClr val="F2B53A"/>
          </a:solidFill>
          <a:ln/>
        </p:spPr>
      </p:sp>
      <p:sp>
        <p:nvSpPr>
          <p:cNvPr id="4" name="Text 2"/>
          <p:cNvSpPr/>
          <p:nvPr/>
        </p:nvSpPr>
        <p:spPr>
          <a:xfrm>
            <a:off x="609585" y="1315614"/>
            <a:ext cx="10972526" cy="8921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250" b="1" spc="-49" kern="100" dirty="0">
                <a:solidFill>
                  <a:srgbClr val="2B2622"/>
                </a:solidFill>
                <a:latin typeface="Georgia Bold" pitchFamily="34" charset="0"/>
                <a:ea typeface="Georgia Bold" pitchFamily="34" charset="-122"/>
                <a:cs typeface="Georgia Bold" pitchFamily="34" charset="0"/>
              </a:rPr>
              <a:t>ResumePulse closes the loop from </a:t>
            </a:r>
            <a:pPr algn="l" indent="0" marL="0">
              <a:lnSpc>
                <a:spcPct val="90000"/>
              </a:lnSpc>
              <a:buNone/>
            </a:pPr>
            <a:r>
              <a:rPr lang="en-US" sz="3250" b="1" spc="-49" kern="100" dirty="0">
                <a:solidFill>
                  <a:srgbClr val="A84327"/>
                </a:solidFill>
                <a:latin typeface="Georgia Bold" pitchFamily="34" charset="0"/>
                <a:ea typeface="Georgia Bold" pitchFamily="34" charset="-122"/>
                <a:cs typeface="Georgia Bold" pitchFamily="34" charset="0"/>
              </a:rPr>
              <a:t>document to career action</a:t>
            </a:r>
            <a:endParaRPr lang="en-US" sz="3250" dirty="0"/>
          </a:p>
        </p:txBody>
      </p:sp>
      <p:sp>
        <p:nvSpPr>
          <p:cNvPr id="5" name="Text 3"/>
          <p:cNvSpPr/>
          <p:nvPr/>
        </p:nvSpPr>
        <p:spPr>
          <a:xfrm>
            <a:off x="609585" y="2304844"/>
            <a:ext cx="10972526" cy="282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700" dirty="0">
                <a:solidFill>
                  <a:srgbClr val="2B2622"/>
                </a:solidFill>
                <a:latin typeface="Inter Medium" pitchFamily="34" charset="0"/>
                <a:ea typeface="Inter Medium" pitchFamily="34" charset="-122"/>
                <a:cs typeface="Inter Medium" pitchFamily="34" charset="0"/>
              </a:rPr>
              <a:t>One resume context drives four tools, from review to next step.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09585" y="2716709"/>
            <a:ext cx="2514537" cy="1030188"/>
          </a:xfrm>
          <a:prstGeom prst="rect">
            <a:avLst/>
          </a:prstGeom>
          <a:solidFill>
            <a:srgbClr val="F3EADB"/>
          </a:solidFill>
          <a:ln/>
        </p:spPr>
      </p:sp>
      <p:sp>
        <p:nvSpPr>
          <p:cNvPr id="7" name="Text 5"/>
          <p:cNvSpPr/>
          <p:nvPr/>
        </p:nvSpPr>
        <p:spPr>
          <a:xfrm>
            <a:off x="838179" y="2951930"/>
            <a:ext cx="2057349" cy="2401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Inter Medium" pitchFamily="34" charset="0"/>
                <a:ea typeface="Inter Medium" pitchFamily="34" charset="-122"/>
                <a:cs typeface="Inter Medium" pitchFamily="34" charset="0"/>
              </a:rPr>
              <a:t>Upload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38179" y="3302569"/>
            <a:ext cx="2285943" cy="2259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0"/>
              </a:rPr>
              <a:t>Resume PDF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3428914" y="2716709"/>
            <a:ext cx="2514537" cy="1030188"/>
          </a:xfrm>
          <a:prstGeom prst="rect">
            <a:avLst/>
          </a:prstGeom>
          <a:solidFill>
            <a:srgbClr val="F3EADB"/>
          </a:solidFill>
          <a:ln/>
        </p:spPr>
      </p:sp>
      <p:sp>
        <p:nvSpPr>
          <p:cNvPr id="10" name="Text 8"/>
          <p:cNvSpPr/>
          <p:nvPr/>
        </p:nvSpPr>
        <p:spPr>
          <a:xfrm>
            <a:off x="3657509" y="2951930"/>
            <a:ext cx="2057349" cy="2401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Inter Medium" pitchFamily="34" charset="0"/>
                <a:ea typeface="Inter Medium" pitchFamily="34" charset="-122"/>
                <a:cs typeface="Inter Medium" pitchFamily="34" charset="0"/>
              </a:rPr>
              <a:t>Extract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3657509" y="3302569"/>
            <a:ext cx="2285943" cy="2259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0"/>
              </a:rPr>
              <a:t>Shared text context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248244" y="2716709"/>
            <a:ext cx="2514537" cy="1030188"/>
          </a:xfrm>
          <a:prstGeom prst="rect">
            <a:avLst/>
          </a:prstGeom>
          <a:solidFill>
            <a:srgbClr val="F3EADB"/>
          </a:solidFill>
          <a:ln/>
        </p:spPr>
      </p:sp>
      <p:sp>
        <p:nvSpPr>
          <p:cNvPr id="13" name="Text 11"/>
          <p:cNvSpPr/>
          <p:nvPr/>
        </p:nvSpPr>
        <p:spPr>
          <a:xfrm>
            <a:off x="6476838" y="2951930"/>
            <a:ext cx="2057349" cy="2401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Inter Medium" pitchFamily="34" charset="0"/>
                <a:ea typeface="Inter Medium" pitchFamily="34" charset="-122"/>
                <a:cs typeface="Inter Medium" pitchFamily="34" charset="0"/>
              </a:rPr>
              <a:t>Reuse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476838" y="3302569"/>
            <a:ext cx="2285943" cy="2259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0"/>
              </a:rPr>
              <a:t>Four tools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9067573" y="2716709"/>
            <a:ext cx="2514537" cy="1030188"/>
          </a:xfrm>
          <a:prstGeom prst="rect">
            <a:avLst/>
          </a:prstGeom>
          <a:solidFill>
            <a:srgbClr val="F3EADB"/>
          </a:solidFill>
          <a:ln/>
        </p:spPr>
      </p:sp>
      <p:sp>
        <p:nvSpPr>
          <p:cNvPr id="16" name="Text 14"/>
          <p:cNvSpPr/>
          <p:nvPr/>
        </p:nvSpPr>
        <p:spPr>
          <a:xfrm>
            <a:off x="9296167" y="2951930"/>
            <a:ext cx="2057349" cy="2401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Inter Medium" pitchFamily="34" charset="0"/>
                <a:ea typeface="Inter Medium" pitchFamily="34" charset="-122"/>
                <a:cs typeface="Inter Medium" pitchFamily="34" charset="0"/>
              </a:rPr>
              <a:t>Act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9296167" y="3302569"/>
            <a:ext cx="2285943" cy="2259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0"/>
              </a:rPr>
              <a:t>Next career step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09585" y="3881735"/>
            <a:ext cx="5333867" cy="1337866"/>
          </a:xfrm>
          <a:prstGeom prst="rect">
            <a:avLst/>
          </a:prstGeom>
          <a:solidFill>
            <a:srgbClr val="FBF6EC"/>
          </a:solidFill>
          <a:ln/>
        </p:spPr>
      </p:sp>
      <p:sp>
        <p:nvSpPr>
          <p:cNvPr id="19" name="Shape 17"/>
          <p:cNvSpPr/>
          <p:nvPr/>
        </p:nvSpPr>
        <p:spPr>
          <a:xfrm>
            <a:off x="838179" y="4110335"/>
            <a:ext cx="1397957" cy="247253"/>
          </a:xfrm>
          <a:prstGeom prst="roundRect">
            <a:avLst>
              <a:gd name="adj" fmla="val 49999"/>
            </a:avLst>
          </a:prstGeom>
          <a:noFill/>
          <a:ln w="635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4142" y="4175617"/>
            <a:ext cx="1795616" cy="1412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100" spc="22" kern="100" dirty="0">
                <a:solidFill>
                  <a:srgbClr val="000000"/>
                </a:solidFill>
                <a:latin typeface="Inter Medium" pitchFamily="34" charset="0"/>
                <a:ea typeface="Inter Medium" pitchFamily="34" charset="-122"/>
                <a:cs typeface="Inter Medium" pitchFamily="34" charset="0"/>
              </a:rPr>
              <a:t>Resume Checker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38179" y="4424634"/>
            <a:ext cx="4876678" cy="2401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Inter Medium" pitchFamily="34" charset="0"/>
                <a:ea typeface="Inter Medium" pitchFamily="34" charset="-122"/>
                <a:cs typeface="Inter Medium" pitchFamily="34" charset="0"/>
              </a:rPr>
              <a:t>Resume Checker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838179" y="4775273"/>
            <a:ext cx="5105272" cy="2259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0"/>
              </a:rPr>
              <a:t>Reviews the uploaded resume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6248244" y="3881735"/>
            <a:ext cx="5333867" cy="1337866"/>
          </a:xfrm>
          <a:prstGeom prst="rect">
            <a:avLst/>
          </a:prstGeom>
          <a:solidFill>
            <a:srgbClr val="FBF6EC"/>
          </a:solidFill>
          <a:ln/>
        </p:spPr>
      </p:sp>
      <p:sp>
        <p:nvSpPr>
          <p:cNvPr id="24" name="Shape 22"/>
          <p:cNvSpPr/>
          <p:nvPr/>
        </p:nvSpPr>
        <p:spPr>
          <a:xfrm>
            <a:off x="6476838" y="4110335"/>
            <a:ext cx="1824190" cy="247253"/>
          </a:xfrm>
          <a:prstGeom prst="roundRect">
            <a:avLst>
              <a:gd name="adj" fmla="val 49999"/>
            </a:avLst>
          </a:prstGeom>
          <a:noFill/>
          <a:ln w="635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2801" y="4175617"/>
            <a:ext cx="2221849" cy="1412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100" spc="22" kern="100" dirty="0">
                <a:solidFill>
                  <a:srgbClr val="000000"/>
                </a:solidFill>
                <a:latin typeface="Inter Medium" pitchFamily="34" charset="0"/>
                <a:ea typeface="Inter Medium" pitchFamily="34" charset="-122"/>
                <a:cs typeface="Inter Medium" pitchFamily="34" charset="0"/>
              </a:rPr>
              <a:t>Cover Letter Generator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76838" y="4424634"/>
            <a:ext cx="4876678" cy="2401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Inter Medium" pitchFamily="34" charset="0"/>
                <a:ea typeface="Inter Medium" pitchFamily="34" charset="-122"/>
                <a:cs typeface="Inter Medium" pitchFamily="34" charset="0"/>
              </a:rPr>
              <a:t>Cover Letter Generator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6476838" y="4775273"/>
            <a:ext cx="5105272" cy="2259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0"/>
              </a:rPr>
              <a:t>Drafts from resume context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609585" y="5524401"/>
            <a:ext cx="5333867" cy="1337866"/>
          </a:xfrm>
          <a:prstGeom prst="rect">
            <a:avLst/>
          </a:prstGeom>
          <a:solidFill>
            <a:srgbClr val="FBF6EC"/>
          </a:solidFill>
          <a:ln/>
        </p:spPr>
      </p:sp>
      <p:sp>
        <p:nvSpPr>
          <p:cNvPr id="29" name="Shape 27"/>
          <p:cNvSpPr/>
          <p:nvPr/>
        </p:nvSpPr>
        <p:spPr>
          <a:xfrm>
            <a:off x="838179" y="5753001"/>
            <a:ext cx="1276219" cy="247253"/>
          </a:xfrm>
          <a:prstGeom prst="roundRect">
            <a:avLst>
              <a:gd name="adj" fmla="val 49999"/>
            </a:avLst>
          </a:prstGeom>
          <a:noFill/>
          <a:ln w="635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44142" y="5818283"/>
            <a:ext cx="1673878" cy="1412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100" spc="22" kern="100" dirty="0">
                <a:solidFill>
                  <a:srgbClr val="000000"/>
                </a:solidFill>
                <a:latin typeface="Inter Medium" pitchFamily="34" charset="0"/>
                <a:ea typeface="Inter Medium" pitchFamily="34" charset="-122"/>
                <a:cs typeface="Inter Medium" pitchFamily="34" charset="0"/>
              </a:rPr>
              <a:t>Resume Scorer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38179" y="6067300"/>
            <a:ext cx="4876678" cy="2401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Inter Medium" pitchFamily="34" charset="0"/>
                <a:ea typeface="Inter Medium" pitchFamily="34" charset="-122"/>
                <a:cs typeface="Inter Medium" pitchFamily="34" charset="0"/>
              </a:rPr>
              <a:t>Resume Scorer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838179" y="6417938"/>
            <a:ext cx="5105272" cy="2259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0"/>
              </a:rPr>
              <a:t>Compares resume against the job description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6248244" y="5524401"/>
            <a:ext cx="5333867" cy="1337866"/>
          </a:xfrm>
          <a:prstGeom prst="rect">
            <a:avLst/>
          </a:prstGeom>
          <a:solidFill>
            <a:srgbClr val="FBF6EC"/>
          </a:solidFill>
          <a:ln/>
        </p:spPr>
      </p:sp>
      <p:sp>
        <p:nvSpPr>
          <p:cNvPr id="34" name="Shape 32"/>
          <p:cNvSpPr/>
          <p:nvPr/>
        </p:nvSpPr>
        <p:spPr>
          <a:xfrm>
            <a:off x="6476838" y="5753001"/>
            <a:ext cx="1361842" cy="247253"/>
          </a:xfrm>
          <a:prstGeom prst="roundRect">
            <a:avLst>
              <a:gd name="adj" fmla="val 49999"/>
            </a:avLst>
          </a:prstGeom>
          <a:noFill/>
          <a:ln w="6350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82801" y="5818283"/>
            <a:ext cx="1759501" cy="1412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100" spc="22" kern="100" dirty="0">
                <a:solidFill>
                  <a:srgbClr val="000000"/>
                </a:solidFill>
                <a:latin typeface="Inter Medium" pitchFamily="34" charset="0"/>
                <a:ea typeface="Inter Medium" pitchFamily="34" charset="-122"/>
                <a:cs typeface="Inter Medium" pitchFamily="34" charset="0"/>
              </a:rPr>
              <a:t>AI Career Coach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476838" y="6067300"/>
            <a:ext cx="4876678" cy="2401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Inter Medium" pitchFamily="34" charset="0"/>
                <a:ea typeface="Inter Medium" pitchFamily="34" charset="-122"/>
                <a:cs typeface="Inter Medium" pitchFamily="34" charset="0"/>
              </a:rPr>
              <a:t>AI Career Coach</a:t>
            </a:r>
            <a:endParaRPr lang="en-US" sz="1450" dirty="0"/>
          </a:p>
        </p:txBody>
      </p:sp>
      <p:sp>
        <p:nvSpPr>
          <p:cNvPr id="37" name="Text 35"/>
          <p:cNvSpPr/>
          <p:nvPr/>
        </p:nvSpPr>
        <p:spPr>
          <a:xfrm>
            <a:off x="6476838" y="6417938"/>
            <a:ext cx="5105272" cy="2259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A84327"/>
                </a:solidFill>
                <a:latin typeface="Inter" pitchFamily="34" charset="0"/>
                <a:ea typeface="Inter" pitchFamily="34" charset="-122"/>
                <a:cs typeface="Inter" pitchFamily="34" charset="0"/>
              </a:rPr>
              <a:t>Answers from your resume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2226770"/>
            <a:ext cx="11582110" cy="1828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spc="24" kern="100" dirty="0">
                <a:solidFill>
                  <a:srgbClr val="A8432B"/>
                </a:solidFill>
                <a:latin typeface="Inter Medium" pitchFamily="34" charset="0"/>
                <a:ea typeface="Inter Medium" pitchFamily="34" charset="-122"/>
                <a:cs typeface="Inter Medium" pitchFamily="34" charset="0"/>
              </a:rPr>
              <a:t>THANK YOU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09585" y="2642295"/>
            <a:ext cx="2743131" cy="38100"/>
          </a:xfrm>
          <a:prstGeom prst="roundRect">
            <a:avLst>
              <a:gd name="adj" fmla="val 49999"/>
            </a:avLst>
          </a:prstGeom>
          <a:solidFill>
            <a:srgbClr val="F2B53A"/>
          </a:solidFill>
          <a:ln/>
        </p:spPr>
      </p:sp>
      <p:sp>
        <p:nvSpPr>
          <p:cNvPr id="4" name="Text 2"/>
          <p:cNvSpPr/>
          <p:nvPr/>
        </p:nvSpPr>
        <p:spPr>
          <a:xfrm>
            <a:off x="609585" y="3131474"/>
            <a:ext cx="10972526" cy="5211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800" b="1" spc="-57" kern="100" dirty="0">
                <a:solidFill>
                  <a:srgbClr val="2B2622"/>
                </a:solidFill>
                <a:latin typeface="Georgia Bold" pitchFamily="34" charset="0"/>
                <a:ea typeface="Georgia Bold" pitchFamily="34" charset="-122"/>
                <a:cs typeface="Georgia Bold" pitchFamily="34" charset="0"/>
              </a:rPr>
              <a:t>Thanks — </a:t>
            </a:r>
            <a:pPr algn="l" indent="0" marL="0">
              <a:lnSpc>
                <a:spcPct val="90000"/>
              </a:lnSpc>
              <a:buNone/>
            </a:pPr>
            <a:r>
              <a:rPr lang="en-US" sz="3800" b="1" spc="-57" kern="100" dirty="0">
                <a:solidFill>
                  <a:srgbClr val="A8432B"/>
                </a:solidFill>
                <a:latin typeface="Georgia Bold" pitchFamily="34" charset="0"/>
                <a:ea typeface="Georgia Bold" pitchFamily="34" charset="-122"/>
                <a:cs typeface="Georgia Bold" pitchFamily="34" charset="0"/>
              </a:rPr>
              <a:t>questions and discussion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609585" y="3798491"/>
            <a:ext cx="10972526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000" dirty="0">
                <a:solidFill>
                  <a:srgbClr val="2B2622"/>
                </a:solidFill>
                <a:latin typeface="Inter Medium" pitchFamily="34" charset="0"/>
                <a:ea typeface="Inter Medium" pitchFamily="34" charset="-122"/>
                <a:cs typeface="Inter Medium" pitchFamily="34" charset="0"/>
              </a:rPr>
              <a:t>ResumePulse · Streamlit + Gemini via LangChain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09585" y="4344591"/>
            <a:ext cx="1633596" cy="288925"/>
          </a:xfrm>
          <a:prstGeom prst="roundRect">
            <a:avLst>
              <a:gd name="adj" fmla="val 49999"/>
            </a:avLst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3407" y="4423603"/>
            <a:ext cx="1995537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300" spc="26" kern="100" dirty="0">
                <a:solidFill>
                  <a:srgbClr val="666666"/>
                </a:solidFill>
                <a:latin typeface="Inter Medium" pitchFamily="34" charset="0"/>
                <a:ea typeface="Inter Medium" pitchFamily="34" charset="-122"/>
                <a:cs typeface="Inter Medium" pitchFamily="34" charset="0"/>
              </a:rPr>
              <a:t>Resume Checker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344778" y="4344591"/>
            <a:ext cx="2131662" cy="288925"/>
          </a:xfrm>
          <a:prstGeom prst="roundRect">
            <a:avLst>
              <a:gd name="adj" fmla="val 49999"/>
            </a:avLst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68600" y="4423603"/>
            <a:ext cx="2493602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300" spc="26" kern="100" dirty="0">
                <a:solidFill>
                  <a:srgbClr val="666666"/>
                </a:solidFill>
                <a:latin typeface="Inter Medium" pitchFamily="34" charset="0"/>
                <a:ea typeface="Inter Medium" pitchFamily="34" charset="-122"/>
                <a:cs typeface="Inter Medium" pitchFamily="34" charset="0"/>
              </a:rPr>
              <a:t>Cover Letter Generator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8037" y="4344591"/>
            <a:ext cx="1491320" cy="288925"/>
          </a:xfrm>
          <a:prstGeom prst="roundRect">
            <a:avLst>
              <a:gd name="adj" fmla="val 49999"/>
            </a:avLst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01859" y="4423603"/>
            <a:ext cx="185326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300" spc="26" kern="100" dirty="0">
                <a:solidFill>
                  <a:srgbClr val="666666"/>
                </a:solidFill>
                <a:latin typeface="Inter Medium" pitchFamily="34" charset="0"/>
                <a:ea typeface="Inter Medium" pitchFamily="34" charset="-122"/>
                <a:cs typeface="Inter Medium" pitchFamily="34" charset="0"/>
              </a:rPr>
              <a:t>Resume Scorer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70954" y="4344591"/>
            <a:ext cx="1591429" cy="288925"/>
          </a:xfrm>
          <a:prstGeom prst="roundRect">
            <a:avLst>
              <a:gd name="adj" fmla="val 49999"/>
            </a:avLst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94776" y="4423603"/>
            <a:ext cx="195337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300" spc="26" kern="100" dirty="0">
                <a:solidFill>
                  <a:srgbClr val="666666"/>
                </a:solidFill>
                <a:latin typeface="Inter Medium" pitchFamily="34" charset="0"/>
                <a:ea typeface="Inter Medium" pitchFamily="34" charset="-122"/>
                <a:cs typeface="Inter Medium" pitchFamily="34" charset="0"/>
              </a:rPr>
              <a:t>AI Career Coach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2026-10-24T19:27:01Z</dcterms:created>
  <dcterms:modified xsi:type="dcterms:W3CDTF">2026-10-24T19:27:01Z</dcterms:modified>
</cp:coreProperties>
</file>